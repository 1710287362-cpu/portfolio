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24384000" cy="13716000" type="custom"/>
  <p:notesSz cx="24384000" cy="1371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Relationship Id="rId3" Type="http://schemas.openxmlformats.org/officeDocument/2006/relationships/image" Target="../media/image1_2.jpg"/><Relationship Id="rId4" Type="http://schemas.openxmlformats.org/officeDocument/2006/relationships/image" Target="../media/image1_3.jpg"/><Relationship Id="rId5" Type="http://schemas.openxmlformats.org/officeDocument/2006/relationships/image" Target="../media/image1_4.jpg"/><Relationship Id="rId6" Type="http://schemas.openxmlformats.org/officeDocument/2006/relationships/image" Target="../media/image1_5.jpg"/><Relationship Id="rId7" Type="http://schemas.openxmlformats.org/officeDocument/2006/relationships/image" Target="../media/image1_6.jpg"/><Relationship Id="rId8" Type="http://schemas.openxmlformats.org/officeDocument/2006/relationships/image" Target="../media/image1_7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2029"/>
            </a:gs>
            <a:gs pos="100000">
              <a:srgbClr val="12161D"/>
            </a:gs>
          </a:gsLst>
          <a:path path="circle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-1"/>
          <p:cNvSpPr/>
          <p:nvPr/>
        </p:nvSpPr>
        <p:spPr>
          <a:xfrm>
            <a:off x="0" y="0"/>
            <a:ext cx="101600" cy="22860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" name="strip-2"/>
          <p:cNvSpPr/>
          <p:nvPr/>
        </p:nvSpPr>
        <p:spPr>
          <a:xfrm>
            <a:off x="0" y="2286000"/>
            <a:ext cx="101600" cy="2286000"/>
          </a:xfrm>
          <a:prstGeom prst="rect">
            <a:avLst/>
          </a:prstGeom>
          <a:solidFill>
            <a:srgbClr val="2F5BFF"/>
          </a:solidFill>
          <a:ln>
            <a:noFill/>
          </a:ln>
        </p:spPr>
      </p:sp>
      <p:sp>
        <p:nvSpPr>
          <p:cNvPr id="4" name="strip-3"/>
          <p:cNvSpPr/>
          <p:nvPr/>
        </p:nvSpPr>
        <p:spPr>
          <a:xfrm>
            <a:off x="0" y="4572000"/>
            <a:ext cx="101600" cy="2286000"/>
          </a:xfrm>
          <a:prstGeom prst="rect">
            <a:avLst/>
          </a:prstGeom>
          <a:solidFill>
            <a:srgbClr val="E8641C"/>
          </a:solidFill>
          <a:ln>
            <a:noFill/>
          </a:ln>
        </p:spPr>
      </p:sp>
      <p:sp>
        <p:nvSpPr>
          <p:cNvPr id="5" name="strip-4"/>
          <p:cNvSpPr/>
          <p:nvPr/>
        </p:nvSpPr>
        <p:spPr>
          <a:xfrm>
            <a:off x="0" y="6858000"/>
            <a:ext cx="101600" cy="2286000"/>
          </a:xfrm>
          <a:prstGeom prst="rect">
            <a:avLst/>
          </a:prstGeom>
          <a:solidFill>
            <a:srgbClr val="E4688E"/>
          </a:solidFill>
          <a:ln>
            <a:noFill/>
          </a:ln>
        </p:spPr>
      </p:sp>
      <p:sp>
        <p:nvSpPr>
          <p:cNvPr id="6" name="strip-5"/>
          <p:cNvSpPr/>
          <p:nvPr/>
        </p:nvSpPr>
        <p:spPr>
          <a:xfrm>
            <a:off x="0" y="9144000"/>
            <a:ext cx="101600" cy="2286000"/>
          </a:xfrm>
          <a:prstGeom prst="rect">
            <a:avLst/>
          </a:prstGeom>
          <a:solidFill>
            <a:srgbClr val="A8452F"/>
          </a:solidFill>
          <a:ln>
            <a:noFill/>
          </a:ln>
        </p:spPr>
      </p:sp>
      <p:sp>
        <p:nvSpPr>
          <p:cNvPr id="7" name="strip-6"/>
          <p:cNvSpPr/>
          <p:nvPr/>
        </p:nvSpPr>
        <p:spPr>
          <a:xfrm>
            <a:off x="0" y="11430000"/>
            <a:ext cx="101600" cy="22860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8" name="top-left"/>
          <p:cNvSpPr txBox="1"/>
          <p:nvPr/>
        </p:nvSpPr>
        <p:spPr>
          <a:xfrm>
            <a:off x="812800" y="660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DACHANG · PORTFOLIO</a:t>
            </a:r>
            <a:endParaRPr lang="en-US" sz="2200" noProof="1"/>
          </a:p>
        </p:txBody>
      </p:sp>
      <p:sp>
        <p:nvSpPr>
          <p:cNvPr id="9" name="top-right"/>
          <p:cNvSpPr txBox="1"/>
          <p:nvPr/>
        </p:nvSpPr>
        <p:spPr>
          <a:xfrm>
            <a:off x="16510000" y="660400"/>
            <a:ext cx="706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2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AI FILM · VISUAL · FRONT-END</a:t>
            </a:r>
            <a:endParaRPr lang="en-US" sz="2200" noProof="1"/>
          </a:p>
        </p:txBody>
      </p:sp>
      <p:sp>
        <p:nvSpPr>
          <p:cNvPr id="10" name="top-rule"/>
          <p:cNvSpPr/>
          <p:nvPr/>
        </p:nvSpPr>
        <p:spPr>
          <a:xfrm>
            <a:off x="812800" y="1320800"/>
            <a:ext cx="22758400" cy="254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11" name="kicker-sq"/>
          <p:cNvSpPr/>
          <p:nvPr/>
        </p:nvSpPr>
        <p:spPr>
          <a:xfrm>
            <a:off x="1219200" y="2489200"/>
            <a:ext cx="177800" cy="1778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2" name="kicker"/>
          <p:cNvSpPr txBox="1"/>
          <p:nvPr/>
        </p:nvSpPr>
        <p:spPr>
          <a:xfrm>
            <a:off x="1574800" y="23368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spc="300" kern="0">
                <a:solidFill>
                  <a:srgbClr val="E8A33D"/>
                </a:solidFill>
                <a:latin typeface="JetBrains Mono"/>
                <a:ea typeface="JetBrains Mono"/>
              </a:rPr>
              <a:t>SELECTED WORKS · 精选作品</a:t>
            </a:r>
            <a:endParaRPr lang="en-US" sz="2400" noProof="1"/>
          </a:p>
        </p:txBody>
      </p:sp>
      <p:sp>
        <p:nvSpPr>
          <p:cNvPr id="13" name="title-en"/>
          <p:cNvSpPr txBox="1"/>
          <p:nvPr/>
        </p:nvSpPr>
        <p:spPr>
          <a:xfrm>
            <a:off x="1168400" y="29972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400" noProof="1" spc="200" kern="0">
                <a:solidFill>
                  <a:srgbClr val="FFFFFF"/>
                </a:solidFill>
                <a:latin typeface="Archivo Black"/>
                <a:ea typeface="Archivo Black"/>
              </a:rPr>
              <a:t>PORTFOLIO</a:t>
            </a:r>
            <a:endParaRPr lang="en-US" sz="8400" noProof="1"/>
          </a:p>
        </p:txBody>
      </p:sp>
      <p:sp>
        <p:nvSpPr>
          <p:cNvPr id="14" name="title-cn"/>
          <p:cNvSpPr txBox="1"/>
          <p:nvPr/>
        </p:nvSpPr>
        <p:spPr>
          <a:xfrm>
            <a:off x="1117600" y="4470400"/>
            <a:ext cx="10922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200" noProof="1" b="1" spc="1800" kern="0">
                <a:solidFill>
                  <a:srgbClr val="FFFFFF"/>
                </a:solidFill>
                <a:latin typeface="MiSans"/>
                <a:ea typeface="MiSans"/>
              </a:rPr>
              <a:t>作品集</a:t>
            </a:r>
            <a:endParaRPr lang="en-US" sz="17200" noProof="1"/>
          </a:p>
        </p:txBody>
      </p:sp>
      <p:sp>
        <p:nvSpPr>
          <p:cNvPr id="15" name="title-bar"/>
          <p:cNvSpPr/>
          <p:nvPr/>
        </p:nvSpPr>
        <p:spPr>
          <a:xfrm>
            <a:off x="1244600" y="7594600"/>
            <a:ext cx="1397000" cy="10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pic>
        <p:nvPicPr>
          <p:cNvPr id="16" name="creator-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219200" y="8128000"/>
            <a:ext cx="1435100" cy="660400"/>
          </a:xfrm>
          <a:prstGeom prst="rect">
            <a:avLst/>
          </a:prstGeom>
          <a:ln>
            <a:noFill/>
          </a:ln>
        </p:spPr>
      </p:pic>
      <p:sp>
        <p:nvSpPr>
          <p:cNvPr id="17" name="creator-en"/>
          <p:cNvSpPr txBox="1"/>
          <p:nvPr/>
        </p:nvSpPr>
        <p:spPr>
          <a:xfrm>
            <a:off x="2857500" y="81280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600" noProof="1">
                <a:solidFill>
                  <a:srgbClr val="7C8592"/>
                </a:solidFill>
                <a:latin typeface="JetBrains Mono"/>
                <a:ea typeface="JetBrains Mono"/>
              </a:rPr>
              <a:t>DACHANG</a:t>
            </a:r>
            <a:endParaRPr lang="en-US" sz="2600" noProof="1"/>
          </a:p>
        </p:txBody>
      </p:sp>
      <p:sp>
        <p:nvSpPr>
          <p:cNvPr id="18" name="roles"/>
          <p:cNvSpPr txBox="1"/>
          <p:nvPr/>
        </p:nvSpPr>
        <p:spPr>
          <a:xfrm>
            <a:off x="1219200" y="90424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AI FILM DIRECTOR × VISUAL DESIGN × FRONT-END</a:t>
            </a:r>
            <a:endParaRPr lang="en-US" sz="2200" noProof="1"/>
          </a:p>
        </p:txBody>
      </p:sp>
      <p:pic>
        <p:nvPicPr>
          <p:cNvPr id="19" name="th1"/>
          <p:cNvPicPr/>
          <p:nvPr/>
        </p:nvPicPr>
        <p:blipFill>
          <a:blip r:embed="rId3"/>
          <a:srcRect t="36" b="36"/>
          <a:stretch>
            <a:fillRect/>
          </a:stretch>
        </p:blipFill>
        <p:spPr>
          <a:xfrm>
            <a:off x="12192000" y="2336800"/>
            <a:ext cx="3517900" cy="21971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20" name="th1-tag"/>
          <p:cNvSpPr/>
          <p:nvPr/>
        </p:nvSpPr>
        <p:spPr>
          <a:xfrm>
            <a:off x="12192000" y="2336800"/>
            <a:ext cx="635000" cy="3810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21" name="th1-no"/>
          <p:cNvSpPr txBox="1"/>
          <p:nvPr/>
        </p:nvSpPr>
        <p:spPr>
          <a:xfrm>
            <a:off x="12192000" y="23368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14181F"/>
                </a:solidFill>
                <a:latin typeface="JetBrains Mono"/>
                <a:ea typeface="JetBrains Mono"/>
              </a:rPr>
              <a:t>01</a:t>
            </a:r>
            <a:endParaRPr lang="en-US" sz="1800" noProof="1"/>
          </a:p>
        </p:txBody>
      </p:sp>
      <p:pic>
        <p:nvPicPr>
          <p:cNvPr id="22" name="th2"/>
          <p:cNvPicPr/>
          <p:nvPr/>
        </p:nvPicPr>
        <p:blipFill>
          <a:blip r:embed="rId4"/>
          <a:srcRect t="36" b="36"/>
          <a:stretch>
            <a:fillRect/>
          </a:stretch>
        </p:blipFill>
        <p:spPr>
          <a:xfrm>
            <a:off x="15913100" y="2336800"/>
            <a:ext cx="3517900" cy="21971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23" name="th2-tag"/>
          <p:cNvSpPr/>
          <p:nvPr/>
        </p:nvSpPr>
        <p:spPr>
          <a:xfrm>
            <a:off x="15913100" y="2336800"/>
            <a:ext cx="635000" cy="381000"/>
          </a:xfrm>
          <a:prstGeom prst="rect">
            <a:avLst/>
          </a:prstGeom>
          <a:solidFill>
            <a:srgbClr val="2F5BFF"/>
          </a:solidFill>
          <a:ln>
            <a:noFill/>
          </a:ln>
        </p:spPr>
      </p:sp>
      <p:sp>
        <p:nvSpPr>
          <p:cNvPr id="24" name="th2-no"/>
          <p:cNvSpPr txBox="1"/>
          <p:nvPr/>
        </p:nvSpPr>
        <p:spPr>
          <a:xfrm>
            <a:off x="15913100" y="23368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JetBrains Mono"/>
                <a:ea typeface="JetBrains Mono"/>
              </a:rPr>
              <a:t>02</a:t>
            </a:r>
            <a:endParaRPr lang="en-US" sz="1800" noProof="1"/>
          </a:p>
        </p:txBody>
      </p:sp>
      <p:pic>
        <p:nvPicPr>
          <p:cNvPr id="25" name="th3"/>
          <p:cNvPicPr/>
          <p:nvPr/>
        </p:nvPicPr>
        <p:blipFill>
          <a:blip r:embed="rId5"/>
          <a:srcRect t="36" b="36"/>
          <a:stretch>
            <a:fillRect/>
          </a:stretch>
        </p:blipFill>
        <p:spPr>
          <a:xfrm>
            <a:off x="19634200" y="2336800"/>
            <a:ext cx="3517900" cy="21971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26" name="th3-tag"/>
          <p:cNvSpPr/>
          <p:nvPr/>
        </p:nvSpPr>
        <p:spPr>
          <a:xfrm>
            <a:off x="19634200" y="2336800"/>
            <a:ext cx="635000" cy="381000"/>
          </a:xfrm>
          <a:prstGeom prst="rect">
            <a:avLst/>
          </a:prstGeom>
          <a:solidFill>
            <a:srgbClr val="E8641C"/>
          </a:solidFill>
          <a:ln>
            <a:noFill/>
          </a:ln>
        </p:spPr>
      </p:sp>
      <p:sp>
        <p:nvSpPr>
          <p:cNvPr id="27" name="th3-no"/>
          <p:cNvSpPr txBox="1"/>
          <p:nvPr/>
        </p:nvSpPr>
        <p:spPr>
          <a:xfrm>
            <a:off x="19634200" y="23368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JetBrains Mono"/>
                <a:ea typeface="JetBrains Mono"/>
              </a:rPr>
              <a:t>03</a:t>
            </a:r>
            <a:endParaRPr lang="en-US" sz="1800" noProof="1"/>
          </a:p>
        </p:txBody>
      </p:sp>
      <p:pic>
        <p:nvPicPr>
          <p:cNvPr id="28" name="th4"/>
          <p:cNvPicPr/>
          <p:nvPr/>
        </p:nvPicPr>
        <p:blipFill>
          <a:blip r:embed="rId6"/>
          <a:srcRect t="36" b="36"/>
          <a:stretch>
            <a:fillRect/>
          </a:stretch>
        </p:blipFill>
        <p:spPr>
          <a:xfrm>
            <a:off x="12192000" y="4737100"/>
            <a:ext cx="3517900" cy="21971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29" name="th4-tag"/>
          <p:cNvSpPr/>
          <p:nvPr/>
        </p:nvSpPr>
        <p:spPr>
          <a:xfrm>
            <a:off x="12192000" y="4737100"/>
            <a:ext cx="635000" cy="381000"/>
          </a:xfrm>
          <a:prstGeom prst="rect">
            <a:avLst/>
          </a:prstGeom>
          <a:solidFill>
            <a:srgbClr val="E4688E"/>
          </a:solidFill>
          <a:ln>
            <a:noFill/>
          </a:ln>
        </p:spPr>
      </p:sp>
      <p:sp>
        <p:nvSpPr>
          <p:cNvPr id="30" name="th4-no"/>
          <p:cNvSpPr txBox="1"/>
          <p:nvPr/>
        </p:nvSpPr>
        <p:spPr>
          <a:xfrm>
            <a:off x="12192000" y="47371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14181F"/>
                </a:solidFill>
                <a:latin typeface="JetBrains Mono"/>
                <a:ea typeface="JetBrains Mono"/>
              </a:rPr>
              <a:t>04</a:t>
            </a:r>
            <a:endParaRPr lang="en-US" sz="1800" noProof="1"/>
          </a:p>
        </p:txBody>
      </p:sp>
      <p:pic>
        <p:nvPicPr>
          <p:cNvPr id="31" name="th5"/>
          <p:cNvPicPr/>
          <p:nvPr/>
        </p:nvPicPr>
        <p:blipFill>
          <a:blip r:embed="rId7"/>
          <a:srcRect t="36" b="36"/>
          <a:stretch>
            <a:fillRect/>
          </a:stretch>
        </p:blipFill>
        <p:spPr>
          <a:xfrm>
            <a:off x="15913100" y="4737100"/>
            <a:ext cx="3517900" cy="21971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32" name="th5-tag"/>
          <p:cNvSpPr/>
          <p:nvPr/>
        </p:nvSpPr>
        <p:spPr>
          <a:xfrm>
            <a:off x="15913100" y="4737100"/>
            <a:ext cx="635000" cy="381000"/>
          </a:xfrm>
          <a:prstGeom prst="rect">
            <a:avLst/>
          </a:prstGeom>
          <a:solidFill>
            <a:srgbClr val="A8452F"/>
          </a:solidFill>
          <a:ln>
            <a:noFill/>
          </a:ln>
        </p:spPr>
      </p:sp>
      <p:sp>
        <p:nvSpPr>
          <p:cNvPr id="33" name="th5-no"/>
          <p:cNvSpPr txBox="1"/>
          <p:nvPr/>
        </p:nvSpPr>
        <p:spPr>
          <a:xfrm>
            <a:off x="15913100" y="47371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JetBrains Mono"/>
                <a:ea typeface="JetBrains Mono"/>
              </a:rPr>
              <a:t>05</a:t>
            </a:r>
            <a:endParaRPr lang="en-US" sz="1800" noProof="1"/>
          </a:p>
        </p:txBody>
      </p:sp>
      <p:pic>
        <p:nvPicPr>
          <p:cNvPr id="34" name="th6"/>
          <p:cNvPicPr/>
          <p:nvPr/>
        </p:nvPicPr>
        <p:blipFill>
          <a:blip r:embed="rId8"/>
          <a:srcRect t="36" b="36"/>
          <a:stretch>
            <a:fillRect/>
          </a:stretch>
        </p:blipFill>
        <p:spPr>
          <a:xfrm>
            <a:off x="19634200" y="4737100"/>
            <a:ext cx="3517900" cy="2197100"/>
          </a:xfrm>
          <a:prstGeom prst="roundRect">
            <a:avLst>
              <a:gd name="adj" fmla="val 6000"/>
            </a:avLst>
          </a:prstGeom>
          <a:ln>
            <a:noFill/>
          </a:ln>
        </p:spPr>
      </p:pic>
      <p:sp>
        <p:nvSpPr>
          <p:cNvPr id="35" name="th6-tag"/>
          <p:cNvSpPr/>
          <p:nvPr/>
        </p:nvSpPr>
        <p:spPr>
          <a:xfrm>
            <a:off x="19634200" y="4737100"/>
            <a:ext cx="635000" cy="3810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36" name="th6-no"/>
          <p:cNvSpPr txBox="1"/>
          <p:nvPr/>
        </p:nvSpPr>
        <p:spPr>
          <a:xfrm>
            <a:off x="19634200" y="47371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14181F"/>
                </a:solidFill>
                <a:latin typeface="JetBrains Mono"/>
                <a:ea typeface="JetBrains Mono"/>
              </a:rPr>
              <a:t>06</a:t>
            </a:r>
            <a:endParaRPr lang="en-US" sz="1800" noProof="1"/>
          </a:p>
        </p:txBody>
      </p:sp>
      <p:sp>
        <p:nvSpPr>
          <p:cNvPr id="37" name="midbar-1"/>
          <p:cNvSpPr/>
          <p:nvPr/>
        </p:nvSpPr>
        <p:spPr>
          <a:xfrm>
            <a:off x="1219200" y="10160000"/>
            <a:ext cx="3708400" cy="10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8" name="midbar-2"/>
          <p:cNvSpPr/>
          <p:nvPr/>
        </p:nvSpPr>
        <p:spPr>
          <a:xfrm>
            <a:off x="4927600" y="10160000"/>
            <a:ext cx="3695700" cy="101600"/>
          </a:xfrm>
          <a:prstGeom prst="rect">
            <a:avLst/>
          </a:prstGeom>
          <a:solidFill>
            <a:srgbClr val="2F5BFF"/>
          </a:solidFill>
          <a:ln>
            <a:noFill/>
          </a:ln>
        </p:spPr>
      </p:sp>
      <p:sp>
        <p:nvSpPr>
          <p:cNvPr id="39" name="midbar-3"/>
          <p:cNvSpPr/>
          <p:nvPr/>
        </p:nvSpPr>
        <p:spPr>
          <a:xfrm>
            <a:off x="8623300" y="10160000"/>
            <a:ext cx="3708400" cy="101600"/>
          </a:xfrm>
          <a:prstGeom prst="rect">
            <a:avLst/>
          </a:prstGeom>
          <a:solidFill>
            <a:srgbClr val="E8641C"/>
          </a:solidFill>
          <a:ln>
            <a:noFill/>
          </a:ln>
        </p:spPr>
      </p:sp>
      <p:sp>
        <p:nvSpPr>
          <p:cNvPr id="40" name="midbar-4"/>
          <p:cNvSpPr/>
          <p:nvPr/>
        </p:nvSpPr>
        <p:spPr>
          <a:xfrm>
            <a:off x="12331700" y="10160000"/>
            <a:ext cx="3695700" cy="101600"/>
          </a:xfrm>
          <a:prstGeom prst="rect">
            <a:avLst/>
          </a:prstGeom>
          <a:solidFill>
            <a:srgbClr val="E4688E"/>
          </a:solidFill>
          <a:ln>
            <a:noFill/>
          </a:ln>
        </p:spPr>
      </p:sp>
      <p:sp>
        <p:nvSpPr>
          <p:cNvPr id="41" name="midbar-5"/>
          <p:cNvSpPr/>
          <p:nvPr/>
        </p:nvSpPr>
        <p:spPr>
          <a:xfrm>
            <a:off x="16027400" y="10160000"/>
            <a:ext cx="3708400" cy="101600"/>
          </a:xfrm>
          <a:prstGeom prst="rect">
            <a:avLst/>
          </a:prstGeom>
          <a:solidFill>
            <a:srgbClr val="A8452F"/>
          </a:solidFill>
          <a:ln>
            <a:noFill/>
          </a:ln>
        </p:spPr>
      </p:sp>
      <p:sp>
        <p:nvSpPr>
          <p:cNvPr id="42" name="midbar-6"/>
          <p:cNvSpPr/>
          <p:nvPr/>
        </p:nvSpPr>
        <p:spPr>
          <a:xfrm>
            <a:off x="19735800" y="10160000"/>
            <a:ext cx="3835400" cy="1016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43" name="quote"/>
          <p:cNvSpPr txBox="1"/>
          <p:nvPr/>
        </p:nvSpPr>
        <p:spPr>
          <a:xfrm>
            <a:off x="1219200" y="10744200"/>
            <a:ext cx="21945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>
                <a:solidFill>
                  <a:srgbClr val="C7CDD6"/>
                </a:solidFill>
                <a:latin typeface="MiSans"/>
                <a:ea typeface="MiSans"/>
              </a:rPr>
              <a:t>把每一件作品，都当成一次完整的表达。</a:t>
            </a:r>
            <a:endParaRPr lang="en-US" sz="3000" noProof="1"/>
          </a:p>
        </p:txBody>
      </p:sp>
      <p:sp>
        <p:nvSpPr>
          <p:cNvPr id="44" name="bottom-rule"/>
          <p:cNvSpPr/>
          <p:nvPr/>
        </p:nvSpPr>
        <p:spPr>
          <a:xfrm>
            <a:off x="812800" y="12547600"/>
            <a:ext cx="22758400" cy="254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45" name="bottom-note"/>
          <p:cNvSpPr txBox="1"/>
          <p:nvPr/>
        </p:nvSpPr>
        <p:spPr>
          <a:xfrm>
            <a:off x="812800" y="12776200"/>
            <a:ext cx="22758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六件作品 · 三种能力 · 一个创作者　——　© DACHANG</a:t>
            </a:r>
            <a:endParaRPr lang="en-US" sz="2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-1"/>
          <p:cNvSpPr/>
          <p:nvPr/>
        </p:nvSpPr>
        <p:spPr>
          <a:xfrm>
            <a:off x="0" y="0"/>
            <a:ext cx="4064000" cy="1778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" name="topbar-2"/>
          <p:cNvSpPr/>
          <p:nvPr/>
        </p:nvSpPr>
        <p:spPr>
          <a:xfrm>
            <a:off x="4064000" y="0"/>
            <a:ext cx="4064000" cy="177800"/>
          </a:xfrm>
          <a:prstGeom prst="rect">
            <a:avLst/>
          </a:prstGeom>
          <a:solidFill>
            <a:srgbClr val="2F5BFF"/>
          </a:solidFill>
          <a:ln>
            <a:noFill/>
          </a:ln>
        </p:spPr>
      </p:sp>
      <p:sp>
        <p:nvSpPr>
          <p:cNvPr id="4" name="topbar-3"/>
          <p:cNvSpPr/>
          <p:nvPr/>
        </p:nvSpPr>
        <p:spPr>
          <a:xfrm>
            <a:off x="8128000" y="0"/>
            <a:ext cx="4064000" cy="177800"/>
          </a:xfrm>
          <a:prstGeom prst="rect">
            <a:avLst/>
          </a:prstGeom>
          <a:solidFill>
            <a:srgbClr val="E8641C"/>
          </a:solidFill>
          <a:ln>
            <a:noFill/>
          </a:ln>
        </p:spPr>
      </p:sp>
      <p:sp>
        <p:nvSpPr>
          <p:cNvPr id="5" name="topbar-4"/>
          <p:cNvSpPr/>
          <p:nvPr/>
        </p:nvSpPr>
        <p:spPr>
          <a:xfrm>
            <a:off x="12192000" y="0"/>
            <a:ext cx="4064000" cy="177800"/>
          </a:xfrm>
          <a:prstGeom prst="rect">
            <a:avLst/>
          </a:prstGeom>
          <a:solidFill>
            <a:srgbClr val="E4688E"/>
          </a:solidFill>
          <a:ln>
            <a:noFill/>
          </a:ln>
        </p:spPr>
      </p:sp>
      <p:sp>
        <p:nvSpPr>
          <p:cNvPr id="6" name="topbar-5"/>
          <p:cNvSpPr/>
          <p:nvPr/>
        </p:nvSpPr>
        <p:spPr>
          <a:xfrm>
            <a:off x="16256000" y="0"/>
            <a:ext cx="4064000" cy="177800"/>
          </a:xfrm>
          <a:prstGeom prst="rect">
            <a:avLst/>
          </a:prstGeom>
          <a:solidFill>
            <a:srgbClr val="A8452F"/>
          </a:solidFill>
          <a:ln>
            <a:noFill/>
          </a:ln>
        </p:spPr>
      </p:sp>
      <p:sp>
        <p:nvSpPr>
          <p:cNvPr id="7" name="topbar-6"/>
          <p:cNvSpPr/>
          <p:nvPr/>
        </p:nvSpPr>
        <p:spPr>
          <a:xfrm>
            <a:off x="20320000" y="0"/>
            <a:ext cx="4064000" cy="1778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8" name="header-sq"/>
          <p:cNvSpPr/>
          <p:nvPr/>
        </p:nvSpPr>
        <p:spPr>
          <a:xfrm>
            <a:off x="812800" y="838200"/>
            <a:ext cx="177800" cy="1778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9" name="header"/>
          <p:cNvSpPr txBox="1"/>
          <p:nvPr/>
        </p:nvSpPr>
        <p:spPr>
          <a:xfrm>
            <a:off x="1168400" y="6858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02 / RESUME — 简历</a:t>
            </a:r>
            <a:endParaRPr lang="en-US" sz="2400" noProof="1"/>
          </a:p>
        </p:txBody>
      </p:sp>
      <p:sp>
        <p:nvSpPr>
          <p:cNvPr id="10" name="header-right"/>
          <p:cNvSpPr txBox="1"/>
          <p:nvPr/>
        </p:nvSpPr>
        <p:spPr>
          <a:xfrm>
            <a:off x="16510000" y="685800"/>
            <a:ext cx="7061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2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PROFILE</a:t>
            </a:r>
            <a:endParaRPr lang="en-US" sz="2200" noProof="1"/>
          </a:p>
        </p:txBody>
      </p:sp>
      <p:sp>
        <p:nvSpPr>
          <p:cNvPr id="11" name="header-rule"/>
          <p:cNvSpPr/>
          <p:nvPr/>
        </p:nvSpPr>
        <p:spPr>
          <a:xfrm>
            <a:off x="812800" y="1346200"/>
            <a:ext cx="22758400" cy="254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pic>
        <p:nvPicPr>
          <p:cNvPr id="12" name="name"/>
          <p:cNvPicPr/>
          <p:nvPr/>
        </p:nvPicPr>
        <p:blipFill>
          <a:blip r:embed="rId2"/>
          <a:stretch>
            <a:fillRect/>
          </a:stretch>
        </p:blipFill>
        <p:spPr>
          <a:xfrm>
            <a:off x="1168400" y="1930400"/>
            <a:ext cx="3022600" cy="1397000"/>
          </a:xfrm>
          <a:prstGeom prst="rect">
            <a:avLst/>
          </a:prstGeom>
          <a:ln>
            <a:noFill/>
          </a:ln>
        </p:spPr>
      </p:pic>
      <p:sp>
        <p:nvSpPr>
          <p:cNvPr id="13" name="name-en"/>
          <p:cNvSpPr txBox="1"/>
          <p:nvPr/>
        </p:nvSpPr>
        <p:spPr>
          <a:xfrm>
            <a:off x="1219200" y="3454400"/>
            <a:ext cx="546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900" noProof="1" spc="300" kern="0">
                <a:solidFill>
                  <a:srgbClr val="E8A33D"/>
                </a:solidFill>
                <a:latin typeface="JetBrains Mono"/>
                <a:ea typeface="JetBrains Mono"/>
              </a:rPr>
              <a:t>DIRECTOR × DESIGNER × DEVELOPER</a:t>
            </a:r>
            <a:endParaRPr lang="en-US" sz="1900" noProof="1"/>
          </a:p>
        </p:txBody>
      </p:sp>
      <p:sp>
        <p:nvSpPr>
          <p:cNvPr id="14" name="name-bar"/>
          <p:cNvSpPr/>
          <p:nvPr/>
        </p:nvSpPr>
        <p:spPr>
          <a:xfrm>
            <a:off x="1219200" y="4089400"/>
            <a:ext cx="1143000" cy="762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5" name="intro"/>
          <p:cNvSpPr txBox="1"/>
          <p:nvPr/>
        </p:nvSpPr>
        <p:spPr>
          <a:xfrm>
            <a:off x="1219200" y="4470400"/>
            <a:ext cx="5207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5000"/>
              </a:lnSpc>
            </a:pPr>
            <a:r>
              <a:rPr lang="en-US" sz="2200" noProof="1">
                <a:solidFill>
                  <a:srgbClr val="C7CDD6"/>
                </a:solidFill>
                <a:latin typeface="MiSans"/>
                <a:ea typeface="MiSans"/>
              </a:rPr>
              <a:t>AIGC 短片导演，也做视觉设计与前端开发。过去一年，用 AI 完成了六件作品——从末日校园的爱情短片，到一座需要「慢下来」的古镇网页。</a:t>
            </a:r>
            <a:endParaRPr lang="en-US" sz="2200" noProof="1"/>
          </a:p>
        </p:txBody>
      </p:sp>
      <p:sp>
        <p:nvSpPr>
          <p:cNvPr id="16" name="pill1"/>
          <p:cNvSpPr/>
          <p:nvPr/>
        </p:nvSpPr>
        <p:spPr>
          <a:xfrm>
            <a:off x="1219200" y="6934200"/>
            <a:ext cx="4064000" cy="685800"/>
          </a:xfrm>
          <a:prstGeom prst="roundRect">
            <a:avLst>
              <a:gd name="adj" fmla="val 50000"/>
            </a:avLst>
          </a:prstGeom>
          <a:solidFill>
            <a:srgbClr val="E8A33D">
              <a:alpha val="14902"/>
            </a:srgbClr>
          </a:solidFill>
          <a:ln w="12700">
            <a:solidFill>
              <a:srgbClr val="E8A33D"/>
            </a:solidFill>
          </a:ln>
        </p:spPr>
      </p:sp>
      <p:sp>
        <p:nvSpPr>
          <p:cNvPr id="17" name="pill1-t"/>
          <p:cNvSpPr txBox="1"/>
          <p:nvPr/>
        </p:nvSpPr>
        <p:spPr>
          <a:xfrm>
            <a:off x="1574800" y="693420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E8A33D"/>
                </a:solidFill>
                <a:latin typeface="MiSans"/>
                <a:ea typeface="MiSans"/>
              </a:rPr>
              <a:t>AIGC 短片导演</a:t>
            </a:r>
            <a:endParaRPr lang="en-US" sz="2200" noProof="1"/>
          </a:p>
        </p:txBody>
      </p:sp>
      <p:sp>
        <p:nvSpPr>
          <p:cNvPr id="18" name="pill1-dot"/>
          <p:cNvSpPr/>
          <p:nvPr/>
        </p:nvSpPr>
        <p:spPr>
          <a:xfrm>
            <a:off x="1320800" y="7175500"/>
            <a:ext cx="203200" cy="2032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9" name="pill2"/>
          <p:cNvSpPr/>
          <p:nvPr/>
        </p:nvSpPr>
        <p:spPr>
          <a:xfrm>
            <a:off x="1219200" y="7823200"/>
            <a:ext cx="4064000" cy="685800"/>
          </a:xfrm>
          <a:prstGeom prst="roundRect">
            <a:avLst>
              <a:gd name="adj" fmla="val 50000"/>
            </a:avLst>
          </a:prstGeom>
          <a:solidFill>
            <a:srgbClr val="2F5BFF">
              <a:alpha val="14902"/>
            </a:srgbClr>
          </a:solidFill>
          <a:ln w="12700">
            <a:solidFill>
              <a:srgbClr val="2F5BFF"/>
            </a:solidFill>
          </a:ln>
        </p:spPr>
      </p:sp>
      <p:sp>
        <p:nvSpPr>
          <p:cNvPr id="20" name="pill2-t"/>
          <p:cNvSpPr txBox="1"/>
          <p:nvPr/>
        </p:nvSpPr>
        <p:spPr>
          <a:xfrm>
            <a:off x="1574800" y="782320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8FA6FF"/>
                </a:solidFill>
                <a:latin typeface="MiSans"/>
                <a:ea typeface="MiSans"/>
              </a:rPr>
              <a:t>视觉设计</a:t>
            </a:r>
            <a:endParaRPr lang="en-US" sz="2200" noProof="1"/>
          </a:p>
        </p:txBody>
      </p:sp>
      <p:sp>
        <p:nvSpPr>
          <p:cNvPr id="21" name="pill2-dot"/>
          <p:cNvSpPr/>
          <p:nvPr/>
        </p:nvSpPr>
        <p:spPr>
          <a:xfrm>
            <a:off x="1320800" y="8064500"/>
            <a:ext cx="203200" cy="203200"/>
          </a:xfrm>
          <a:prstGeom prst="ellipse">
            <a:avLst/>
          </a:prstGeom>
          <a:solidFill>
            <a:srgbClr val="2F5BFF"/>
          </a:solidFill>
          <a:ln>
            <a:noFill/>
          </a:ln>
        </p:spPr>
      </p:sp>
      <p:sp>
        <p:nvSpPr>
          <p:cNvPr id="22" name="pill3"/>
          <p:cNvSpPr/>
          <p:nvPr/>
        </p:nvSpPr>
        <p:spPr>
          <a:xfrm>
            <a:off x="1219200" y="8712200"/>
            <a:ext cx="4064000" cy="685800"/>
          </a:xfrm>
          <a:prstGeom prst="roundRect">
            <a:avLst>
              <a:gd name="adj" fmla="val 50000"/>
            </a:avLst>
          </a:prstGeom>
          <a:solidFill>
            <a:srgbClr val="E8641C">
              <a:alpha val="14902"/>
            </a:srgbClr>
          </a:solidFill>
          <a:ln w="12700">
            <a:solidFill>
              <a:srgbClr val="E8641C"/>
            </a:solidFill>
          </a:ln>
        </p:spPr>
      </p:sp>
      <p:sp>
        <p:nvSpPr>
          <p:cNvPr id="23" name="pill3-t"/>
          <p:cNvSpPr txBox="1"/>
          <p:nvPr/>
        </p:nvSpPr>
        <p:spPr>
          <a:xfrm>
            <a:off x="1574800" y="871220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F0945F"/>
                </a:solidFill>
                <a:latin typeface="MiSans"/>
                <a:ea typeface="MiSans"/>
              </a:rPr>
              <a:t>前端开发</a:t>
            </a:r>
            <a:endParaRPr lang="en-US" sz="2200" noProof="1"/>
          </a:p>
        </p:txBody>
      </p:sp>
      <p:sp>
        <p:nvSpPr>
          <p:cNvPr id="24" name="pill3-dot"/>
          <p:cNvSpPr/>
          <p:nvPr/>
        </p:nvSpPr>
        <p:spPr>
          <a:xfrm>
            <a:off x="1320800" y="8953500"/>
            <a:ext cx="203200" cy="203200"/>
          </a:xfrm>
          <a:prstGeom prst="ellipse">
            <a:avLst/>
          </a:prstGeom>
          <a:solidFill>
            <a:srgbClr val="E8641C"/>
          </a:solidFill>
          <a:ln>
            <a:noFill/>
          </a:ln>
        </p:spPr>
      </p:sp>
      <p:sp>
        <p:nvSpPr>
          <p:cNvPr id="25" name="tools"/>
          <p:cNvSpPr txBox="1"/>
          <p:nvPr/>
        </p:nvSpPr>
        <p:spPr>
          <a:xfrm>
            <a:off x="1219200" y="99822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70000"/>
              </a:lnSpc>
            </a:pPr>
            <a:r>
              <a:rPr lang="en-US" sz="17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TOOLS — REACT / VITE / TAILWIND</a:t>
            </a:r>
            <a:endParaRPr lang="en-US" sz="1700" noProof="1"/>
          </a:p>
          <a:p>
            <a:pPr algn="l">
              <a:lnSpc>
                <a:spcPct val="170000"/>
              </a:lnSpc>
            </a:pPr>
            <a:r>
              <a:rPr lang="en-US" sz="17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DEPLOY — GITHUB PAGES</a:t>
            </a:r>
            <a:endParaRPr lang="en-US" sz="1700" noProof="1"/>
          </a:p>
        </p:txBody>
      </p:sp>
      <p:sp>
        <p:nvSpPr>
          <p:cNvPr id="26" name="tl-label-sq"/>
          <p:cNvSpPr/>
          <p:nvPr/>
        </p:nvSpPr>
        <p:spPr>
          <a:xfrm>
            <a:off x="7112000" y="2057400"/>
            <a:ext cx="177800" cy="1778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27" name="tl-label"/>
          <p:cNvSpPr txBox="1"/>
          <p:nvPr/>
        </p:nvSpPr>
        <p:spPr>
          <a:xfrm>
            <a:off x="7467600" y="1905000"/>
            <a:ext cx="889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六个项目 / SIX PROJECTS</a:t>
            </a:r>
            <a:endParaRPr lang="en-US" sz="2400" noProof="1"/>
          </a:p>
        </p:txBody>
      </p:sp>
      <p:sp>
        <p:nvSpPr>
          <p:cNvPr id="28" name="tl-axis"/>
          <p:cNvSpPr/>
          <p:nvPr/>
        </p:nvSpPr>
        <p:spPr>
          <a:xfrm>
            <a:off x="7112000" y="7162800"/>
            <a:ext cx="16459200" cy="508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29" name="n1-stem"/>
          <p:cNvSpPr/>
          <p:nvPr/>
        </p:nvSpPr>
        <p:spPr>
          <a:xfrm>
            <a:off x="8115300" y="5588000"/>
            <a:ext cx="25400" cy="13970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30" name="n1-card"/>
          <p:cNvSpPr/>
          <p:nvPr/>
        </p:nvSpPr>
        <p:spPr>
          <a:xfrm>
            <a:off x="6858000" y="3175000"/>
            <a:ext cx="2540000" cy="2413000"/>
          </a:xfrm>
          <a:prstGeom prst="rect">
            <a:avLst/>
          </a:prstGeom>
          <a:solidFill>
            <a:srgbClr val="1B222D"/>
          </a:solidFill>
          <a:ln w="12700">
            <a:solidFill>
              <a:srgbClr val="2B3542"/>
            </a:solidFill>
          </a:ln>
        </p:spPr>
      </p:sp>
      <p:sp>
        <p:nvSpPr>
          <p:cNvPr id="31" name="n1-bar"/>
          <p:cNvSpPr/>
          <p:nvPr/>
        </p:nvSpPr>
        <p:spPr>
          <a:xfrm>
            <a:off x="6858000" y="3175000"/>
            <a:ext cx="2540000" cy="762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2" name="n1-no"/>
          <p:cNvSpPr txBox="1"/>
          <p:nvPr/>
        </p:nvSpPr>
        <p:spPr>
          <a:xfrm>
            <a:off x="7061200" y="34036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E8A33D"/>
                </a:solidFill>
                <a:latin typeface="JetBrains Mono"/>
                <a:ea typeface="JetBrains Mono"/>
              </a:rPr>
              <a:t>01</a:t>
            </a:r>
            <a:endParaRPr lang="en-US" sz="1800" noProof="1"/>
          </a:p>
        </p:txBody>
      </p:sp>
      <p:sp>
        <p:nvSpPr>
          <p:cNvPr id="33" name="n1-title"/>
          <p:cNvSpPr txBox="1"/>
          <p:nvPr/>
        </p:nvSpPr>
        <p:spPr>
          <a:xfrm>
            <a:off x="7061200" y="3810000"/>
            <a:ext cx="213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2300" noProof="1" b="1">
                <a:solidFill>
                  <a:srgbClr val="FFFFFF"/>
                </a:solidFill>
                <a:latin typeface="MiSans"/>
                <a:ea typeface="MiSans"/>
              </a:rPr>
              <a:t>迷失的星星</a:t>
            </a:r>
            <a:endParaRPr lang="en-US" sz="2300" noProof="1"/>
          </a:p>
        </p:txBody>
      </p:sp>
      <p:sp>
        <p:nvSpPr>
          <p:cNvPr id="34" name="n1-meta"/>
          <p:cNvSpPr txBox="1"/>
          <p:nvPr/>
        </p:nvSpPr>
        <p:spPr>
          <a:xfrm>
            <a:off x="7061200" y="47244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7C8592"/>
                </a:solidFill>
                <a:latin typeface="MiSans"/>
                <a:ea typeface="MiSans"/>
              </a:rPr>
              <a:t>AIGC 叙事短片 · 4'51''</a:t>
            </a:r>
            <a:endParaRPr lang="en-US" sz="1600" noProof="1"/>
          </a:p>
        </p:txBody>
      </p:sp>
      <p:sp>
        <p:nvSpPr>
          <p:cNvPr id="35" name="n1-dot"/>
          <p:cNvSpPr/>
          <p:nvPr/>
        </p:nvSpPr>
        <p:spPr>
          <a:xfrm>
            <a:off x="7962900" y="7023100"/>
            <a:ext cx="330200" cy="3302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6" name="n2-stem"/>
          <p:cNvSpPr/>
          <p:nvPr/>
        </p:nvSpPr>
        <p:spPr>
          <a:xfrm>
            <a:off x="10909300" y="7366000"/>
            <a:ext cx="25400" cy="13970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37" name="n2-card"/>
          <p:cNvSpPr/>
          <p:nvPr/>
        </p:nvSpPr>
        <p:spPr>
          <a:xfrm>
            <a:off x="9652000" y="8763000"/>
            <a:ext cx="2540000" cy="2413000"/>
          </a:xfrm>
          <a:prstGeom prst="rect">
            <a:avLst/>
          </a:prstGeom>
          <a:solidFill>
            <a:srgbClr val="1B222D"/>
          </a:solidFill>
          <a:ln w="12700">
            <a:solidFill>
              <a:srgbClr val="2B3542"/>
            </a:solidFill>
          </a:ln>
        </p:spPr>
      </p:sp>
      <p:sp>
        <p:nvSpPr>
          <p:cNvPr id="38" name="n2-bar"/>
          <p:cNvSpPr/>
          <p:nvPr/>
        </p:nvSpPr>
        <p:spPr>
          <a:xfrm>
            <a:off x="9652000" y="8763000"/>
            <a:ext cx="2540000" cy="76200"/>
          </a:xfrm>
          <a:prstGeom prst="rect">
            <a:avLst/>
          </a:prstGeom>
          <a:solidFill>
            <a:srgbClr val="2F5BFF"/>
          </a:solidFill>
          <a:ln>
            <a:noFill/>
          </a:ln>
        </p:spPr>
      </p:sp>
      <p:sp>
        <p:nvSpPr>
          <p:cNvPr id="39" name="n2-no"/>
          <p:cNvSpPr txBox="1"/>
          <p:nvPr/>
        </p:nvSpPr>
        <p:spPr>
          <a:xfrm>
            <a:off x="9855200" y="89916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8FA6FF"/>
                </a:solidFill>
                <a:latin typeface="JetBrains Mono"/>
                <a:ea typeface="JetBrains Mono"/>
              </a:rPr>
              <a:t>02</a:t>
            </a:r>
            <a:endParaRPr lang="en-US" sz="1800" noProof="1"/>
          </a:p>
        </p:txBody>
      </p:sp>
      <p:sp>
        <p:nvSpPr>
          <p:cNvPr id="40" name="n2-title"/>
          <p:cNvSpPr txBox="1"/>
          <p:nvPr/>
        </p:nvSpPr>
        <p:spPr>
          <a:xfrm>
            <a:off x="9855200" y="9398000"/>
            <a:ext cx="213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2300" noProof="1" b="1">
                <a:solidFill>
                  <a:srgbClr val="FFFFFF"/>
                </a:solidFill>
                <a:latin typeface="MiSans"/>
                <a:ea typeface="MiSans"/>
              </a:rPr>
              <a:t>HIK · MIP 冷屏</a:t>
            </a:r>
            <a:endParaRPr lang="en-US" sz="2300" noProof="1"/>
          </a:p>
        </p:txBody>
      </p:sp>
      <p:sp>
        <p:nvSpPr>
          <p:cNvPr id="41" name="n2-meta"/>
          <p:cNvSpPr txBox="1"/>
          <p:nvPr/>
        </p:nvSpPr>
        <p:spPr>
          <a:xfrm>
            <a:off x="9855200" y="103124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7C8592"/>
                </a:solidFill>
                <a:latin typeface="MiSans"/>
                <a:ea typeface="MiSans"/>
              </a:rPr>
              <a:t>产品广告 · AIGC</a:t>
            </a:r>
            <a:endParaRPr lang="en-US" sz="1600" noProof="1"/>
          </a:p>
        </p:txBody>
      </p:sp>
      <p:sp>
        <p:nvSpPr>
          <p:cNvPr id="42" name="n2-dot"/>
          <p:cNvSpPr/>
          <p:nvPr/>
        </p:nvSpPr>
        <p:spPr>
          <a:xfrm>
            <a:off x="10756900" y="7023100"/>
            <a:ext cx="330200" cy="330200"/>
          </a:xfrm>
          <a:prstGeom prst="ellipse">
            <a:avLst/>
          </a:prstGeom>
          <a:solidFill>
            <a:srgbClr val="2F5BFF"/>
          </a:solidFill>
          <a:ln>
            <a:noFill/>
          </a:ln>
        </p:spPr>
      </p:sp>
      <p:sp>
        <p:nvSpPr>
          <p:cNvPr id="43" name="n3-stem"/>
          <p:cNvSpPr/>
          <p:nvPr/>
        </p:nvSpPr>
        <p:spPr>
          <a:xfrm>
            <a:off x="13703300" y="5588000"/>
            <a:ext cx="25400" cy="13970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44" name="n3-card"/>
          <p:cNvSpPr/>
          <p:nvPr/>
        </p:nvSpPr>
        <p:spPr>
          <a:xfrm>
            <a:off x="12446000" y="3175000"/>
            <a:ext cx="2540000" cy="2413000"/>
          </a:xfrm>
          <a:prstGeom prst="rect">
            <a:avLst/>
          </a:prstGeom>
          <a:solidFill>
            <a:srgbClr val="1B222D"/>
          </a:solidFill>
          <a:ln w="12700">
            <a:solidFill>
              <a:srgbClr val="2B3542"/>
            </a:solidFill>
          </a:ln>
        </p:spPr>
      </p:sp>
      <p:sp>
        <p:nvSpPr>
          <p:cNvPr id="45" name="n3-bar"/>
          <p:cNvSpPr/>
          <p:nvPr/>
        </p:nvSpPr>
        <p:spPr>
          <a:xfrm>
            <a:off x="12446000" y="3175000"/>
            <a:ext cx="2540000" cy="76200"/>
          </a:xfrm>
          <a:prstGeom prst="rect">
            <a:avLst/>
          </a:prstGeom>
          <a:solidFill>
            <a:srgbClr val="E8641C"/>
          </a:solidFill>
          <a:ln>
            <a:noFill/>
          </a:ln>
        </p:spPr>
      </p:sp>
      <p:sp>
        <p:nvSpPr>
          <p:cNvPr id="46" name="n3-no"/>
          <p:cNvSpPr txBox="1"/>
          <p:nvPr/>
        </p:nvSpPr>
        <p:spPr>
          <a:xfrm>
            <a:off x="12649200" y="34036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F0945F"/>
                </a:solidFill>
                <a:latin typeface="JetBrains Mono"/>
                <a:ea typeface="JetBrains Mono"/>
              </a:rPr>
              <a:t>03</a:t>
            </a:r>
            <a:endParaRPr lang="en-US" sz="1800" noProof="1"/>
          </a:p>
        </p:txBody>
      </p:sp>
      <p:sp>
        <p:nvSpPr>
          <p:cNvPr id="47" name="n3-title"/>
          <p:cNvSpPr txBox="1"/>
          <p:nvPr/>
        </p:nvSpPr>
        <p:spPr>
          <a:xfrm>
            <a:off x="12649200" y="3810000"/>
            <a:ext cx="213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2300" noProof="1" b="1">
                <a:solidFill>
                  <a:srgbClr val="FFFFFF"/>
                </a:solidFill>
                <a:latin typeface="MiSans"/>
                <a:ea typeface="MiSans"/>
              </a:rPr>
              <a:t>霜狩 FROST HUNT</a:t>
            </a:r>
            <a:endParaRPr lang="en-US" sz="2300" noProof="1"/>
          </a:p>
        </p:txBody>
      </p:sp>
      <p:sp>
        <p:nvSpPr>
          <p:cNvPr id="48" name="n3-meta"/>
          <p:cNvSpPr txBox="1"/>
          <p:nvPr/>
        </p:nvSpPr>
        <p:spPr>
          <a:xfrm>
            <a:off x="12649200" y="47244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7C8592"/>
                </a:solidFill>
                <a:latin typeface="MiSans"/>
                <a:ea typeface="MiSans"/>
              </a:rPr>
              <a:t>AI 动画概念 · 2024</a:t>
            </a:r>
            <a:endParaRPr lang="en-US" sz="1600" noProof="1"/>
          </a:p>
        </p:txBody>
      </p:sp>
      <p:sp>
        <p:nvSpPr>
          <p:cNvPr id="49" name="n3-dot"/>
          <p:cNvSpPr/>
          <p:nvPr/>
        </p:nvSpPr>
        <p:spPr>
          <a:xfrm>
            <a:off x="13550900" y="7023100"/>
            <a:ext cx="330200" cy="330200"/>
          </a:xfrm>
          <a:prstGeom prst="ellipse">
            <a:avLst/>
          </a:prstGeom>
          <a:solidFill>
            <a:srgbClr val="E8641C"/>
          </a:solidFill>
          <a:ln>
            <a:noFill/>
          </a:ln>
        </p:spPr>
      </p:sp>
      <p:sp>
        <p:nvSpPr>
          <p:cNvPr id="50" name="n4-stem"/>
          <p:cNvSpPr/>
          <p:nvPr/>
        </p:nvSpPr>
        <p:spPr>
          <a:xfrm>
            <a:off x="16497300" y="7366000"/>
            <a:ext cx="25400" cy="13970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51" name="n4-card"/>
          <p:cNvSpPr/>
          <p:nvPr/>
        </p:nvSpPr>
        <p:spPr>
          <a:xfrm>
            <a:off x="15240000" y="8763000"/>
            <a:ext cx="2540000" cy="2413000"/>
          </a:xfrm>
          <a:prstGeom prst="rect">
            <a:avLst/>
          </a:prstGeom>
          <a:solidFill>
            <a:srgbClr val="1B222D"/>
          </a:solidFill>
          <a:ln w="12700">
            <a:solidFill>
              <a:srgbClr val="2B3542"/>
            </a:solidFill>
          </a:ln>
        </p:spPr>
      </p:sp>
      <p:sp>
        <p:nvSpPr>
          <p:cNvPr id="52" name="n4-bar"/>
          <p:cNvSpPr/>
          <p:nvPr/>
        </p:nvSpPr>
        <p:spPr>
          <a:xfrm>
            <a:off x="15240000" y="8763000"/>
            <a:ext cx="2540000" cy="76200"/>
          </a:xfrm>
          <a:prstGeom prst="rect">
            <a:avLst/>
          </a:prstGeom>
          <a:solidFill>
            <a:srgbClr val="E4688E"/>
          </a:solidFill>
          <a:ln>
            <a:noFill/>
          </a:ln>
        </p:spPr>
      </p:sp>
      <p:sp>
        <p:nvSpPr>
          <p:cNvPr id="53" name="n4-no"/>
          <p:cNvSpPr txBox="1"/>
          <p:nvPr/>
        </p:nvSpPr>
        <p:spPr>
          <a:xfrm>
            <a:off x="15443200" y="89916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E4688E"/>
                </a:solidFill>
                <a:latin typeface="JetBrains Mono"/>
                <a:ea typeface="JetBrains Mono"/>
              </a:rPr>
              <a:t>04</a:t>
            </a:r>
            <a:endParaRPr lang="en-US" sz="1800" noProof="1"/>
          </a:p>
        </p:txBody>
      </p:sp>
      <p:sp>
        <p:nvSpPr>
          <p:cNvPr id="54" name="n4-title"/>
          <p:cNvSpPr txBox="1"/>
          <p:nvPr/>
        </p:nvSpPr>
        <p:spPr>
          <a:xfrm>
            <a:off x="15443200" y="9398000"/>
            <a:ext cx="213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2300" noProof="1" b="1">
                <a:solidFill>
                  <a:srgbClr val="FFFFFF"/>
                </a:solidFill>
                <a:latin typeface="MiSans"/>
                <a:ea typeface="MiSans"/>
              </a:rPr>
              <a:t>莱芙汀 LAFTING</a:t>
            </a:r>
            <a:endParaRPr lang="en-US" sz="2300" noProof="1"/>
          </a:p>
        </p:txBody>
      </p:sp>
      <p:sp>
        <p:nvSpPr>
          <p:cNvPr id="55" name="n4-meta"/>
          <p:cNvSpPr txBox="1"/>
          <p:nvPr/>
        </p:nvSpPr>
        <p:spPr>
          <a:xfrm>
            <a:off x="15443200" y="103124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7C8592"/>
                </a:solidFill>
                <a:latin typeface="MiSans"/>
                <a:ea typeface="MiSans"/>
              </a:rPr>
              <a:t>品牌影片 · 玫瑰护肤</a:t>
            </a:r>
            <a:endParaRPr lang="en-US" sz="1600" noProof="1"/>
          </a:p>
        </p:txBody>
      </p:sp>
      <p:sp>
        <p:nvSpPr>
          <p:cNvPr id="56" name="n4-dot"/>
          <p:cNvSpPr/>
          <p:nvPr/>
        </p:nvSpPr>
        <p:spPr>
          <a:xfrm>
            <a:off x="16344900" y="7023100"/>
            <a:ext cx="330200" cy="330200"/>
          </a:xfrm>
          <a:prstGeom prst="ellipse">
            <a:avLst/>
          </a:prstGeom>
          <a:solidFill>
            <a:srgbClr val="E4688E"/>
          </a:solidFill>
          <a:ln>
            <a:noFill/>
          </a:ln>
        </p:spPr>
      </p:sp>
      <p:sp>
        <p:nvSpPr>
          <p:cNvPr id="57" name="n5-stem"/>
          <p:cNvSpPr/>
          <p:nvPr/>
        </p:nvSpPr>
        <p:spPr>
          <a:xfrm>
            <a:off x="19291300" y="5588000"/>
            <a:ext cx="25400" cy="13970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58" name="n5-card"/>
          <p:cNvSpPr/>
          <p:nvPr/>
        </p:nvSpPr>
        <p:spPr>
          <a:xfrm>
            <a:off x="18034000" y="3175000"/>
            <a:ext cx="2540000" cy="2413000"/>
          </a:xfrm>
          <a:prstGeom prst="rect">
            <a:avLst/>
          </a:prstGeom>
          <a:solidFill>
            <a:srgbClr val="1B222D"/>
          </a:solidFill>
          <a:ln w="12700">
            <a:solidFill>
              <a:srgbClr val="2B3542"/>
            </a:solidFill>
          </a:ln>
        </p:spPr>
      </p:sp>
      <p:sp>
        <p:nvSpPr>
          <p:cNvPr id="59" name="n5-bar"/>
          <p:cNvSpPr/>
          <p:nvPr/>
        </p:nvSpPr>
        <p:spPr>
          <a:xfrm>
            <a:off x="18034000" y="3175000"/>
            <a:ext cx="2540000" cy="76200"/>
          </a:xfrm>
          <a:prstGeom prst="rect">
            <a:avLst/>
          </a:prstGeom>
          <a:solidFill>
            <a:srgbClr val="A8452F"/>
          </a:solidFill>
          <a:ln>
            <a:noFill/>
          </a:ln>
        </p:spPr>
      </p:sp>
      <p:sp>
        <p:nvSpPr>
          <p:cNvPr id="60" name="n5-no"/>
          <p:cNvSpPr txBox="1"/>
          <p:nvPr/>
        </p:nvSpPr>
        <p:spPr>
          <a:xfrm>
            <a:off x="18237200" y="34036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D08A75"/>
                </a:solidFill>
                <a:latin typeface="JetBrains Mono"/>
                <a:ea typeface="JetBrains Mono"/>
              </a:rPr>
              <a:t>05</a:t>
            </a:r>
            <a:endParaRPr lang="en-US" sz="1800" noProof="1"/>
          </a:p>
        </p:txBody>
      </p:sp>
      <p:sp>
        <p:nvSpPr>
          <p:cNvPr id="61" name="n5-title"/>
          <p:cNvSpPr txBox="1"/>
          <p:nvPr/>
        </p:nvSpPr>
        <p:spPr>
          <a:xfrm>
            <a:off x="18237200" y="3810000"/>
            <a:ext cx="213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2300" noProof="1" b="1">
                <a:solidFill>
                  <a:srgbClr val="FFFFFF"/>
                </a:solidFill>
                <a:latin typeface="MiSans"/>
                <a:ea typeface="MiSans"/>
              </a:rPr>
              <a:t>枫泾古镇</a:t>
            </a:r>
            <a:endParaRPr lang="en-US" sz="2300" noProof="1"/>
          </a:p>
        </p:txBody>
      </p:sp>
      <p:sp>
        <p:nvSpPr>
          <p:cNvPr id="62" name="n5-meta"/>
          <p:cNvSpPr txBox="1"/>
          <p:nvPr/>
        </p:nvSpPr>
        <p:spPr>
          <a:xfrm>
            <a:off x="18237200" y="47244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7C8592"/>
                </a:solidFill>
                <a:latin typeface="MiSans"/>
                <a:ea typeface="MiSans"/>
              </a:rPr>
              <a:t>网页设计 + 前端 · 2025</a:t>
            </a:r>
            <a:endParaRPr lang="en-US" sz="1600" noProof="1"/>
          </a:p>
        </p:txBody>
      </p:sp>
      <p:sp>
        <p:nvSpPr>
          <p:cNvPr id="63" name="n5-dot"/>
          <p:cNvSpPr/>
          <p:nvPr/>
        </p:nvSpPr>
        <p:spPr>
          <a:xfrm>
            <a:off x="19138900" y="7023100"/>
            <a:ext cx="330200" cy="330200"/>
          </a:xfrm>
          <a:prstGeom prst="ellipse">
            <a:avLst/>
          </a:prstGeom>
          <a:solidFill>
            <a:srgbClr val="A8452F"/>
          </a:solidFill>
          <a:ln>
            <a:noFill/>
          </a:ln>
        </p:spPr>
      </p:sp>
      <p:sp>
        <p:nvSpPr>
          <p:cNvPr id="64" name="n6-stem"/>
          <p:cNvSpPr/>
          <p:nvPr/>
        </p:nvSpPr>
        <p:spPr>
          <a:xfrm>
            <a:off x="22085300" y="7366000"/>
            <a:ext cx="25400" cy="13970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65" name="n6-card"/>
          <p:cNvSpPr/>
          <p:nvPr/>
        </p:nvSpPr>
        <p:spPr>
          <a:xfrm>
            <a:off x="20828000" y="8763000"/>
            <a:ext cx="2540000" cy="2413000"/>
          </a:xfrm>
          <a:prstGeom prst="rect">
            <a:avLst/>
          </a:prstGeom>
          <a:solidFill>
            <a:srgbClr val="1B222D"/>
          </a:solidFill>
          <a:ln w="12700">
            <a:solidFill>
              <a:srgbClr val="2B3542"/>
            </a:solidFill>
          </a:ln>
        </p:spPr>
      </p:sp>
      <p:sp>
        <p:nvSpPr>
          <p:cNvPr id="66" name="n6-bar"/>
          <p:cNvSpPr/>
          <p:nvPr/>
        </p:nvSpPr>
        <p:spPr>
          <a:xfrm>
            <a:off x="20828000" y="8763000"/>
            <a:ext cx="2540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67" name="n6-no"/>
          <p:cNvSpPr txBox="1"/>
          <p:nvPr/>
        </p:nvSpPr>
        <p:spPr>
          <a:xfrm>
            <a:off x="21031200" y="8991600"/>
            <a:ext cx="2133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800" noProof="1">
                <a:solidFill>
                  <a:srgbClr val="FFD100"/>
                </a:solidFill>
                <a:latin typeface="JetBrains Mono"/>
                <a:ea typeface="JetBrains Mono"/>
              </a:rPr>
              <a:t>06</a:t>
            </a:r>
            <a:endParaRPr lang="en-US" sz="1800" noProof="1"/>
          </a:p>
        </p:txBody>
      </p:sp>
      <p:sp>
        <p:nvSpPr>
          <p:cNvPr id="68" name="n6-title"/>
          <p:cNvSpPr txBox="1"/>
          <p:nvPr/>
        </p:nvSpPr>
        <p:spPr>
          <a:xfrm>
            <a:off x="21031200" y="9398000"/>
            <a:ext cx="2133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5000"/>
              </a:lnSpc>
            </a:pPr>
            <a:r>
              <a:rPr lang="en-US" sz="2300" noProof="1" b="1">
                <a:solidFill>
                  <a:srgbClr val="FFFFFF"/>
                </a:solidFill>
                <a:latin typeface="MiSans"/>
                <a:ea typeface="MiSans"/>
              </a:rPr>
              <a:t>美团中秋夜</a:t>
            </a:r>
            <a:endParaRPr lang="en-US" sz="2300" noProof="1"/>
          </a:p>
        </p:txBody>
      </p:sp>
      <p:sp>
        <p:nvSpPr>
          <p:cNvPr id="69" name="n6-meta"/>
          <p:cNvSpPr txBox="1"/>
          <p:nvPr/>
        </p:nvSpPr>
        <p:spPr>
          <a:xfrm>
            <a:off x="21031200" y="10312400"/>
            <a:ext cx="2133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600" noProof="1">
                <a:solidFill>
                  <a:srgbClr val="7C8592"/>
                </a:solidFill>
                <a:latin typeface="MiSans"/>
                <a:ea typeface="MiSans"/>
              </a:rPr>
              <a:t>营销动态海报 · 2026</a:t>
            </a:r>
            <a:endParaRPr lang="en-US" sz="1600" noProof="1"/>
          </a:p>
        </p:txBody>
      </p:sp>
      <p:sp>
        <p:nvSpPr>
          <p:cNvPr id="70" name="n6-dot"/>
          <p:cNvSpPr/>
          <p:nvPr/>
        </p:nvSpPr>
        <p:spPr>
          <a:xfrm>
            <a:off x="21932900" y="7023100"/>
            <a:ext cx="330200" cy="330200"/>
          </a:xfrm>
          <a:prstGeom prst="ellipse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71" name="contact-card"/>
          <p:cNvSpPr/>
          <p:nvPr/>
        </p:nvSpPr>
        <p:spPr>
          <a:xfrm>
            <a:off x="1219200" y="11811000"/>
            <a:ext cx="22352000" cy="1066800"/>
          </a:xfrm>
          <a:prstGeom prst="rect">
            <a:avLst/>
          </a:prstGeom>
          <a:solidFill>
            <a:srgbClr val="1B222D"/>
          </a:solidFill>
          <a:ln w="12700">
            <a:solidFill>
              <a:srgbClr val="2B3542"/>
            </a:solidFill>
          </a:ln>
        </p:spPr>
      </p:sp>
      <p:sp>
        <p:nvSpPr>
          <p:cNvPr id="72" name="contact-1"/>
          <p:cNvSpPr txBox="1"/>
          <p:nvPr/>
        </p:nvSpPr>
        <p:spPr>
          <a:xfrm>
            <a:off x="1625600" y="12014200"/>
            <a:ext cx="812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500" noProof="1">
                <a:solidFill>
                  <a:srgbClr val="7C8592"/>
                </a:solidFill>
                <a:latin typeface="JetBrains Mono"/>
                <a:ea typeface="JetBrains Mono"/>
              </a:rPr>
              <a:t>EMAIL　</a:t>
            </a:r>
            <a:r>
              <a:rPr lang="en-US" sz="1900" noProof="1">
                <a:solidFill>
                  <a:srgbClr val="FFFFFF"/>
                </a:solidFill>
                <a:latin typeface="MiSans"/>
                <a:ea typeface="MiSans"/>
              </a:rPr>
              <a:t>your-email@example.com（占位）</a:t>
            </a:r>
            <a:endParaRPr lang="en-US" sz="1600" noProof="1"/>
          </a:p>
        </p:txBody>
      </p:sp>
      <p:sp>
        <p:nvSpPr>
          <p:cNvPr id="73" name="contact-sep1"/>
          <p:cNvSpPr/>
          <p:nvPr/>
        </p:nvSpPr>
        <p:spPr>
          <a:xfrm>
            <a:off x="10160000" y="12065000"/>
            <a:ext cx="12700" cy="5588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74" name="contact-2"/>
          <p:cNvSpPr txBox="1"/>
          <p:nvPr/>
        </p:nvSpPr>
        <p:spPr>
          <a:xfrm>
            <a:off x="10566400" y="12014200"/>
            <a:ext cx="609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500" noProof="1">
                <a:solidFill>
                  <a:srgbClr val="7C8592"/>
                </a:solidFill>
                <a:latin typeface="JetBrains Mono"/>
                <a:ea typeface="JetBrains Mono"/>
              </a:rPr>
              <a:t>WECHAT　</a:t>
            </a:r>
            <a:r>
              <a:rPr lang="en-US" sz="1900" noProof="1">
                <a:solidFill>
                  <a:srgbClr val="FFFFFF"/>
                </a:solidFill>
                <a:latin typeface="MiSans"/>
                <a:ea typeface="MiSans"/>
              </a:rPr>
              <a:t>your-wechat（占位）</a:t>
            </a:r>
            <a:endParaRPr lang="en-US" sz="1600" noProof="1"/>
          </a:p>
        </p:txBody>
      </p:sp>
      <p:sp>
        <p:nvSpPr>
          <p:cNvPr id="75" name="contact-sep2"/>
          <p:cNvSpPr/>
          <p:nvPr/>
        </p:nvSpPr>
        <p:spPr>
          <a:xfrm>
            <a:off x="17068800" y="12065000"/>
            <a:ext cx="12700" cy="5588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76" name="contact-3"/>
          <p:cNvSpPr txBox="1"/>
          <p:nvPr/>
        </p:nvSpPr>
        <p:spPr>
          <a:xfrm>
            <a:off x="17475200" y="12014200"/>
            <a:ext cx="5715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0000"/>
              </a:lnSpc>
            </a:pPr>
            <a:r>
              <a:rPr lang="en-US" sz="1500" noProof="1">
                <a:solidFill>
                  <a:srgbClr val="7C8592"/>
                </a:solidFill>
                <a:latin typeface="JetBrains Mono"/>
                <a:ea typeface="JetBrains Mono"/>
              </a:rPr>
              <a:t>GITHUB　</a:t>
            </a:r>
            <a:r>
              <a:rPr lang="en-US" sz="1900" noProof="1">
                <a:solidFill>
                  <a:srgbClr val="FFFFFF"/>
                </a:solidFill>
                <a:latin typeface="MiSans"/>
                <a:ea typeface="MiSans"/>
              </a:rPr>
              <a:t>1710287362-cpu.github.io</a:t>
            </a:r>
            <a:endParaRPr lang="en-US" sz="1600" noProof="1"/>
          </a:p>
        </p:txBody>
      </p:sp>
      <p:sp>
        <p:nvSpPr>
          <p:cNvPr id="77" name="footer"/>
          <p:cNvSpPr txBox="1"/>
          <p:nvPr/>
        </p:nvSpPr>
        <p:spPr>
          <a:xfrm>
            <a:off x="812800" y="13081000"/>
            <a:ext cx="227584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DACHANG · PORTFOLIO</a:t>
            </a:r>
            <a:endParaRPr lang="en-US" sz="1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2029"/>
            </a:gs>
            <a:gs pos="100000">
              <a:srgbClr val="12161D"/>
            </a:gs>
          </a:gsLst>
          <a:path path="circle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ip-1"/>
          <p:cNvSpPr/>
          <p:nvPr/>
        </p:nvSpPr>
        <p:spPr>
          <a:xfrm>
            <a:off x="24282400" y="0"/>
            <a:ext cx="101600" cy="22860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3" name="strip-2"/>
          <p:cNvSpPr/>
          <p:nvPr/>
        </p:nvSpPr>
        <p:spPr>
          <a:xfrm>
            <a:off x="24282400" y="2286000"/>
            <a:ext cx="101600" cy="2286000"/>
          </a:xfrm>
          <a:prstGeom prst="rect">
            <a:avLst/>
          </a:prstGeom>
          <a:solidFill>
            <a:srgbClr val="2F5BFF"/>
          </a:solidFill>
          <a:ln>
            <a:noFill/>
          </a:ln>
        </p:spPr>
      </p:sp>
      <p:sp>
        <p:nvSpPr>
          <p:cNvPr id="4" name="strip-3"/>
          <p:cNvSpPr/>
          <p:nvPr/>
        </p:nvSpPr>
        <p:spPr>
          <a:xfrm>
            <a:off x="24282400" y="4572000"/>
            <a:ext cx="101600" cy="2286000"/>
          </a:xfrm>
          <a:prstGeom prst="rect">
            <a:avLst/>
          </a:prstGeom>
          <a:solidFill>
            <a:srgbClr val="E8641C"/>
          </a:solidFill>
          <a:ln>
            <a:noFill/>
          </a:ln>
        </p:spPr>
      </p:sp>
      <p:sp>
        <p:nvSpPr>
          <p:cNvPr id="5" name="strip-4"/>
          <p:cNvSpPr/>
          <p:nvPr/>
        </p:nvSpPr>
        <p:spPr>
          <a:xfrm>
            <a:off x="24282400" y="6858000"/>
            <a:ext cx="101600" cy="2286000"/>
          </a:xfrm>
          <a:prstGeom prst="rect">
            <a:avLst/>
          </a:prstGeom>
          <a:solidFill>
            <a:srgbClr val="E4688E"/>
          </a:solidFill>
          <a:ln>
            <a:noFill/>
          </a:ln>
        </p:spPr>
      </p:sp>
      <p:sp>
        <p:nvSpPr>
          <p:cNvPr id="6" name="strip-5"/>
          <p:cNvSpPr/>
          <p:nvPr/>
        </p:nvSpPr>
        <p:spPr>
          <a:xfrm>
            <a:off x="24282400" y="9144000"/>
            <a:ext cx="101600" cy="2286000"/>
          </a:xfrm>
          <a:prstGeom prst="rect">
            <a:avLst/>
          </a:prstGeom>
          <a:solidFill>
            <a:srgbClr val="A8452F"/>
          </a:solidFill>
          <a:ln>
            <a:noFill/>
          </a:ln>
        </p:spPr>
      </p:sp>
      <p:sp>
        <p:nvSpPr>
          <p:cNvPr id="7" name="strip-6"/>
          <p:cNvSpPr/>
          <p:nvPr/>
        </p:nvSpPr>
        <p:spPr>
          <a:xfrm>
            <a:off x="24282400" y="11430000"/>
            <a:ext cx="101600" cy="2286000"/>
          </a:xfrm>
          <a:prstGeom prst="rect">
            <a:avLst/>
          </a:prstGeom>
          <a:solidFill>
            <a:srgbClr val="FFD100"/>
          </a:solidFill>
          <a:ln>
            <a:noFill/>
          </a:ln>
        </p:spPr>
      </p:sp>
      <p:sp>
        <p:nvSpPr>
          <p:cNvPr id="8" name="top-left"/>
          <p:cNvSpPr txBox="1"/>
          <p:nvPr/>
        </p:nvSpPr>
        <p:spPr>
          <a:xfrm>
            <a:off x="812800" y="6604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DACHANG · PORTFOLIO</a:t>
            </a:r>
            <a:endParaRPr lang="en-US" sz="2200" noProof="1"/>
          </a:p>
        </p:txBody>
      </p:sp>
      <p:sp>
        <p:nvSpPr>
          <p:cNvPr id="9" name="top-right"/>
          <p:cNvSpPr txBox="1"/>
          <p:nvPr/>
        </p:nvSpPr>
        <p:spPr>
          <a:xfrm>
            <a:off x="16510000" y="660400"/>
            <a:ext cx="7061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2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THE END</a:t>
            </a:r>
            <a:endParaRPr lang="en-US" sz="2200" noProof="1"/>
          </a:p>
        </p:txBody>
      </p:sp>
      <p:sp>
        <p:nvSpPr>
          <p:cNvPr id="10" name="top-rule"/>
          <p:cNvSpPr/>
          <p:nvPr/>
        </p:nvSpPr>
        <p:spPr>
          <a:xfrm>
            <a:off x="812800" y="1320800"/>
            <a:ext cx="22758400" cy="254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11" name="thanks-sq"/>
          <p:cNvSpPr/>
          <p:nvPr/>
        </p:nvSpPr>
        <p:spPr>
          <a:xfrm>
            <a:off x="2032000" y="3378200"/>
            <a:ext cx="203200" cy="2032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2" name="thanks-en"/>
          <p:cNvSpPr txBox="1"/>
          <p:nvPr/>
        </p:nvSpPr>
        <p:spPr>
          <a:xfrm>
            <a:off x="2032000" y="38862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spc="300" kern="0">
                <a:solidFill>
                  <a:srgbClr val="E8A33D"/>
                </a:solidFill>
                <a:latin typeface="JetBrains Mono"/>
                <a:ea typeface="JetBrains Mono"/>
              </a:rPr>
              <a:t>THANKS FOR WATCHING</a:t>
            </a:r>
            <a:endParaRPr lang="en-US" sz="2400" noProof="1"/>
          </a:p>
        </p:txBody>
      </p:sp>
      <p:sp>
        <p:nvSpPr>
          <p:cNvPr id="13" name="thanks-cn"/>
          <p:cNvSpPr txBox="1"/>
          <p:nvPr/>
        </p:nvSpPr>
        <p:spPr>
          <a:xfrm>
            <a:off x="1905000" y="4572000"/>
            <a:ext cx="11176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0" noProof="1" b="1" spc="1200" kern="0">
                <a:solidFill>
                  <a:srgbClr val="FFFFFF"/>
                </a:solidFill>
                <a:latin typeface="MiSans"/>
                <a:ea typeface="MiSans"/>
              </a:rPr>
              <a:t>谢谢观看</a:t>
            </a:r>
            <a:endParaRPr lang="en-US" sz="14000" noProof="1"/>
          </a:p>
        </p:txBody>
      </p:sp>
      <p:sp>
        <p:nvSpPr>
          <p:cNvPr id="14" name="thanks-star"/>
          <p:cNvSpPr/>
          <p:nvPr/>
        </p:nvSpPr>
        <p:spPr>
          <a:xfrm>
            <a:off x="9804400" y="5435600"/>
            <a:ext cx="660400" cy="660400"/>
          </a:xfrm>
          <a:prstGeom prst="star5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5" name="ending"/>
          <p:cNvSpPr txBox="1"/>
          <p:nvPr/>
        </p:nvSpPr>
        <p:spPr>
          <a:xfrm>
            <a:off x="2032000" y="74930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800" noProof="1">
                <a:solidFill>
                  <a:srgbClr val="C7CDD6"/>
                </a:solidFill>
                <a:latin typeface="MiSans"/>
                <a:ea typeface="MiSans"/>
              </a:rPr>
              <a:t>把下一段故事，留给下一次相遇。</a:t>
            </a:r>
            <a:endParaRPr lang="en-US" sz="2800" noProof="1"/>
          </a:p>
        </p:txBody>
      </p:sp>
      <p:sp>
        <p:nvSpPr>
          <p:cNvPr id="16" name="contact-card"/>
          <p:cNvSpPr/>
          <p:nvPr/>
        </p:nvSpPr>
        <p:spPr>
          <a:xfrm>
            <a:off x="13716000" y="3175000"/>
            <a:ext cx="8890000" cy="5334000"/>
          </a:xfrm>
          <a:prstGeom prst="rect">
            <a:avLst/>
          </a:prstGeom>
          <a:solidFill>
            <a:srgbClr val="1B222D"/>
          </a:solidFill>
          <a:ln w="12700">
            <a:solidFill>
              <a:srgbClr val="2B3542"/>
            </a:solidFill>
          </a:ln>
        </p:spPr>
      </p:sp>
      <p:sp>
        <p:nvSpPr>
          <p:cNvPr id="17" name="contact-bar"/>
          <p:cNvSpPr/>
          <p:nvPr/>
        </p:nvSpPr>
        <p:spPr>
          <a:xfrm>
            <a:off x="13716000" y="3175000"/>
            <a:ext cx="8890000" cy="101600"/>
          </a:xfrm>
          <a:prstGeom prst="rect">
            <a:avLst/>
          </a:prstGeom>
          <a:solidFill>
            <a:srgbClr val="E8A33D"/>
          </a:solidFill>
          <a:ln>
            <a:noFill/>
          </a:ln>
        </p:spPr>
      </p:sp>
      <p:sp>
        <p:nvSpPr>
          <p:cNvPr id="18" name="contact-label"/>
          <p:cNvSpPr txBox="1"/>
          <p:nvPr/>
        </p:nvSpPr>
        <p:spPr>
          <a:xfrm>
            <a:off x="14325600" y="3683000"/>
            <a:ext cx="6350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STAY IN TOUCH / 保持联系</a:t>
            </a:r>
            <a:endParaRPr lang="en-US" sz="2200" noProof="1"/>
          </a:p>
        </p:txBody>
      </p:sp>
      <p:sp>
        <p:nvSpPr>
          <p:cNvPr id="19" name="contact-body"/>
          <p:cNvSpPr txBox="1"/>
          <p:nvPr/>
        </p:nvSpPr>
        <p:spPr>
          <a:xfrm>
            <a:off x="14325600" y="4470400"/>
            <a:ext cx="7620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900" noProof="1">
                <a:solidFill>
                  <a:srgbClr val="7C8592"/>
                </a:solidFill>
                <a:latin typeface="JetBrains Mono"/>
                <a:ea typeface="JetBrains Mono"/>
              </a:rPr>
              <a:t>EMAIL　</a:t>
            </a:r>
            <a:r>
              <a:rPr lang="en-US" sz="2300" noProof="1">
                <a:solidFill>
                  <a:srgbClr val="FFFFFF"/>
                </a:solidFill>
                <a:latin typeface="MiSans"/>
                <a:ea typeface="MiSans"/>
              </a:rPr>
              <a:t>your-email@example.com（占位）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900" noProof="1">
                <a:solidFill>
                  <a:srgbClr val="7C8592"/>
                </a:solidFill>
                <a:latin typeface="JetBrains Mono"/>
                <a:ea typeface="JetBrains Mono"/>
              </a:rPr>
              <a:t>WECHAT　</a:t>
            </a:r>
            <a:r>
              <a:rPr lang="en-US" sz="2300" noProof="1">
                <a:solidFill>
                  <a:srgbClr val="FFFFFF"/>
                </a:solidFill>
                <a:latin typeface="MiSans"/>
                <a:ea typeface="MiSans"/>
              </a:rPr>
              <a:t>your-wechat（占位）</a:t>
            </a:r>
            <a:endParaRPr lang="en-US" sz="1600" noProof="1"/>
          </a:p>
          <a:p>
            <a:pPr algn="l">
              <a:lnSpc>
                <a:spcPct val="160000"/>
              </a:lnSpc>
              <a:spcBef>
                <a:spcPts val="1400"/>
              </a:spcBef>
            </a:pPr>
            <a:r>
              <a:rPr lang="en-US" sz="1900" noProof="1">
                <a:solidFill>
                  <a:srgbClr val="7C8592"/>
                </a:solidFill>
                <a:latin typeface="JetBrains Mono"/>
                <a:ea typeface="JetBrains Mono"/>
              </a:rPr>
              <a:t>GITHUB　</a:t>
            </a:r>
            <a:r>
              <a:rPr lang="en-US" sz="2300" noProof="1">
                <a:solidFill>
                  <a:srgbClr val="FFFFFF"/>
                </a:solidFill>
                <a:latin typeface="MiSans"/>
                <a:ea typeface="MiSans"/>
              </a:rPr>
              <a:t>1710287362-cpu.github.io</a:t>
            </a:r>
            <a:endParaRPr lang="en-US" sz="1600" noProof="1"/>
          </a:p>
        </p:txBody>
      </p:sp>
      <p:sp>
        <p:nvSpPr>
          <p:cNvPr id="20" name="bottom-rule"/>
          <p:cNvSpPr/>
          <p:nvPr/>
        </p:nvSpPr>
        <p:spPr>
          <a:xfrm>
            <a:off x="812800" y="12547600"/>
            <a:ext cx="22758400" cy="25400"/>
          </a:xfrm>
          <a:prstGeom prst="rect">
            <a:avLst/>
          </a:prstGeom>
          <a:solidFill>
            <a:srgbClr val="2B3542"/>
          </a:solidFill>
          <a:ln>
            <a:noFill/>
          </a:ln>
        </p:spPr>
      </p:sp>
      <p:sp>
        <p:nvSpPr>
          <p:cNvPr id="21" name="bottom-note"/>
          <p:cNvSpPr txBox="1"/>
          <p:nvPr/>
        </p:nvSpPr>
        <p:spPr>
          <a:xfrm>
            <a:off x="812800" y="12776200"/>
            <a:ext cx="227584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spc="300" kern="0">
                <a:solidFill>
                  <a:srgbClr val="7C8592"/>
                </a:solidFill>
                <a:latin typeface="JetBrains Mono"/>
                <a:ea typeface="JetBrains Mono"/>
              </a:rPr>
              <a:t>© DACHANG · PORTFOLIO</a:t>
            </a:r>
            <a:endParaRPr lang="en-US" sz="2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3</Slides>
</Properties>
</file>

<file path=docProps/core.xml><?xml version="1.0" encoding="utf-8"?>
<cp:coreProperties xmlns:dc="http://purl.org/dc/elements/1.1/" xmlns:cp="http://schemas.openxmlformats.org/package/2006/metadata/core-properties">
  <dc:title>portfolio_frame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